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1508760" cy="256032"/>
          </a:xfrm>
          <a:prstGeom prst="roundRect">
            <a:avLst>
              <a:gd name="adj" fmla="val 28571"/>
            </a:avLst>
          </a:prstGeom>
          <a:solidFill>
            <a:srgbClr val="F7F3EA">
              <a:alpha val="0"/>
            </a:srgbClr>
          </a:solidFill>
          <a:ln w="8255">
            <a:solidFill>
              <a:srgbClr val="0B0B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89204"/>
            <a:ext cx="136245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 • PAPER 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/ GAME THEORY / LLM AGENTS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1627632"/>
            <a:ext cx="5257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 algn="l">
              <a:lnSpc>
                <a:spcPct val="90000"/>
              </a:lnSpc>
              <a:buNone/>
            </a:pPr>
            <a:r>
              <a:rPr sz="2400" b="1">
                <a:solidFill>
                  <a:srgbClr val="1C1C1C"/>
                </a:solidFill>
                <a:latin typeface="Arial"/>
              </a:rPr>
              <a:t>FAIRGAME: A Framework for AI Agents
Bias Recognition Using Game Theory</a:t>
            </a:r>
            <a:endParaRPr lang="en-US" sz="84" dirty="0"/>
          </a:p>
        </p:txBody>
      </p:sp>
      <p:sp>
        <p:nvSpPr>
          <p:cNvPr id="6" name="Text 4"/>
          <p:cNvSpPr/>
          <p:nvPr/>
        </p:nvSpPr>
        <p:spPr>
          <a:xfrm>
            <a:off x="621792" y="2788920"/>
            <a:ext cx="51206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algn="l" indent="0" marL="0">
              <a:buNone/>
            </a:pPr>
            <a:r>
              <a:rPr sz="1350">
                <a:solidFill>
                  <a:srgbClr val="505050"/>
                </a:solidFill>
                <a:latin typeface="Arial"/>
              </a:rPr>
              <a:t>Paper presentation • Agentic AI Assignment Alpha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2648" y="3401568"/>
            <a:ext cx="1920240" cy="0"/>
          </a:xfrm>
          <a:prstGeom prst="line">
            <a:avLst/>
          </a:prstGeom>
          <a:noFill/>
          <a:ln w="8890">
            <a:solidFill>
              <a:srgbClr val="0B0B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3913632"/>
            <a:ext cx="52120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B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 studies how LLM agents behave when strategic choices depend on other agents, then compares their behaviour with game-theoretic expectations.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6492240" y="585216"/>
            <a:ext cx="4800600" cy="5449824"/>
          </a:xfrm>
          <a:prstGeom prst="rect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78638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720840" y="50749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choice, language, personality and payoff design all shape agent behaviour.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03720" y="1828800"/>
            <a:ext cx="3977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agents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games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452360" y="3794760"/>
            <a:ext cx="28803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543800" y="40050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 signals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733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78992" y="6455664"/>
            <a:ext cx="2011680" cy="0"/>
          </a:xfrm>
          <a:prstGeom prst="line">
            <a:avLst/>
          </a:prstGeom>
          <a:noFill/>
          <a:ln w="5715">
            <a:solidFill>
              <a:srgbClr val="0B0B0B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632764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620">
                <a:solidFill>
                  <a:srgbClr val="4B4B4B"/>
                </a:solidFill>
                <a:latin typeface="Arial"/>
              </a:rPr>
              <a:t>Source: FAIRGAME: A Framework for AI Agents Bias Recognition Using Game Theory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F7F3EA">
              <a:alpha val="0"/>
            </a:srgbClr>
          </a:solidFill>
          <a:ln w="8255">
            <a:solidFill>
              <a:srgbClr val="0B0B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89204"/>
            <a:ext cx="11795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FAIRGAME works</a:t>
            </a:r>
            <a:endParaRPr lang="en-US" sz="75" dirty="0"/>
          </a:p>
        </p:txBody>
      </p:sp>
      <p:sp>
        <p:nvSpPr>
          <p:cNvPr id="5" name="Text 3"/>
          <p:cNvSpPr/>
          <p:nvPr/>
        </p:nvSpPr>
        <p:spPr>
          <a:xfrm>
            <a:off x="612648" y="1700784"/>
            <a:ext cx="48463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controlled pipeline turns a game description into repeated LLM-agent simulations and comparable behavioural metrics.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3337560" cy="1143000"/>
          </a:xfrm>
          <a:prstGeom prst="rect">
            <a:avLst/>
          </a:prstGeom>
          <a:solidFill>
            <a:srgbClr val="FBFAF5"/>
          </a:solidFill>
          <a:ln w="8890">
            <a:solidFill>
              <a:srgbClr val="D8D5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999232"/>
            <a:ext cx="2935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Configure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3337560"/>
            <a:ext cx="29352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 payoff matrix, round settings, model, language and agent traits.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34840" y="2834640"/>
            <a:ext cx="3337560" cy="1143000"/>
          </a:xfrm>
          <a:prstGeom prst="rect">
            <a:avLst/>
          </a:prstGeom>
          <a:solidFill>
            <a:srgbClr val="FBFAF5"/>
          </a:solidFill>
          <a:ln w="8890">
            <a:solidFill>
              <a:srgbClr val="D8D5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2999232"/>
            <a:ext cx="2935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Simulate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36008" y="3337560"/>
            <a:ext cx="29352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receive prompts, choose strategies and accumulate game history over repeated rounds.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0" y="2834640"/>
            <a:ext cx="3337560" cy="1143000"/>
          </a:xfrm>
          <a:prstGeom prst="rect">
            <a:avLst/>
          </a:prstGeom>
          <a:solidFill>
            <a:srgbClr val="0B0B0B"/>
          </a:solidFill>
          <a:ln w="8890">
            <a:solidFill>
              <a:srgbClr val="0B0B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0768" y="2999232"/>
            <a:ext cx="2935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Evaluate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30768" y="3337560"/>
            <a:ext cx="29352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distributions, trajectories and scores with game-theoretic predictions.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645152"/>
            <a:ext cx="10881360" cy="0"/>
          </a:xfrm>
          <a:prstGeom prst="line">
            <a:avLst/>
          </a:prstGeom>
          <a:noFill/>
          <a:ln w="8890">
            <a:solidFill>
              <a:srgbClr val="0B0B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507492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BFAF5"/>
          </a:solidFill>
          <a:ln w="7620">
            <a:solidFill>
              <a:srgbClr val="D8D5C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5184648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Payoff matrix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0" y="507492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BFAF5"/>
          </a:solidFill>
          <a:ln w="7620">
            <a:solidFill>
              <a:srgbClr val="D8D5C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5184648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model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87952" y="507492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BFAF5"/>
          </a:solidFill>
          <a:ln w="7620">
            <a:solidFill>
              <a:srgbClr val="D8D5C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9392" y="5184648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59552" y="507492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BFAF5"/>
          </a:solidFill>
          <a:ln w="7620">
            <a:solidFill>
              <a:srgbClr val="D8D5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518464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40880" y="507492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FBFAF5"/>
          </a:solidFill>
          <a:ln w="7620">
            <a:solidFill>
              <a:srgbClr val="D8D5C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518464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rounds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823960" y="50749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B0B0B"/>
          </a:solidFill>
          <a:ln w="7620">
            <a:solidFill>
              <a:srgbClr val="D8D5C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15400" y="5184648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Behavioural scores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733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78992" y="6455664"/>
            <a:ext cx="2011680" cy="0"/>
          </a:xfrm>
          <a:prstGeom prst="line">
            <a:avLst/>
          </a:prstGeom>
          <a:noFill/>
          <a:ln w="5715">
            <a:solidFill>
              <a:srgbClr val="0B0B0B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632764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FAIRGAME, Buscemi et al., 2026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1280160" cy="256032"/>
          </a:xfrm>
          <a:prstGeom prst="roundRect">
            <a:avLst>
              <a:gd name="adj" fmla="val 28571"/>
            </a:avLst>
          </a:prstGeom>
          <a:solidFill>
            <a:srgbClr val="F7F3EA">
              <a:alpha val="0"/>
            </a:srgbClr>
          </a:solidFill>
          <a:ln w="8255">
            <a:solidFill>
              <a:srgbClr val="0B0B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89204"/>
            <a:ext cx="113385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Setup: games, models, languages</a:t>
            </a:r>
            <a:endParaRPr lang="en-US" sz="68" dirty="0"/>
          </a:p>
        </p:txBody>
      </p:sp>
      <p:sp>
        <p:nvSpPr>
          <p:cNvPr id="5" name="Text 3"/>
          <p:cNvSpPr/>
          <p:nvPr/>
        </p:nvSpPr>
        <p:spPr>
          <a:xfrm>
            <a:off x="621792" y="1792224"/>
            <a:ext cx="5669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 evaluates repeated interactions across two classical games, multiple LLMs and five languages.</a:t>
            </a:r>
            <a:endParaRPr lang="en-US" sz="1520" dirty="0"/>
          </a:p>
        </p:txBody>
      </p:sp>
      <p:sp>
        <p:nvSpPr>
          <p:cNvPr id="6" name="Shape 4"/>
          <p:cNvSpPr/>
          <p:nvPr/>
        </p:nvSpPr>
        <p:spPr>
          <a:xfrm>
            <a:off x="8366760" y="822960"/>
            <a:ext cx="2834640" cy="4709160"/>
          </a:xfrm>
          <a:prstGeom prst="rect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0" y="10241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595360" y="4572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72,000 individual strategic decisions were produced across the simulation campaign.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7614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85800" y="3236976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games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04288" y="27614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2304288" y="3236976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families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22776" y="27614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3922776" y="3236976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languages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41264" y="27614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5541264" y="3236976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rounds per game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68096" y="43434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GAMES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04672" y="4736592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FBFAF5"/>
          </a:solidFill>
          <a:ln w="7620">
            <a:solidFill>
              <a:srgbClr val="D8D5C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846320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Prisoner’s Dilemma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063240" y="4736592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FBFAF5"/>
          </a:solidFill>
          <a:ln w="7620">
            <a:solidFill>
              <a:srgbClr val="D8D5C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4846320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Battle of the Sexes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8096" y="54406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MODELS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194560" y="5733288"/>
            <a:ext cx="5303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B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Llama 3.1 405B • Mistral Large • GPT-4 / GPT-4o • Claude 3.5 Sonnet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502920" y="63733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78992" y="6455664"/>
            <a:ext cx="2011680" cy="0"/>
          </a:xfrm>
          <a:prstGeom prst="line">
            <a:avLst/>
          </a:prstGeom>
          <a:noFill/>
          <a:ln w="5715">
            <a:solidFill>
              <a:srgbClr val="0B0B0B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632764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FAIRGAME, Buscemi et al., 2026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7F3EA">
              <a:alpha val="0"/>
            </a:srgbClr>
          </a:solidFill>
          <a:ln w="8255">
            <a:solidFill>
              <a:srgbClr val="0B0B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89204"/>
            <a:ext cx="9966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Behaviour shifts with context</a:t>
            </a:r>
            <a:endParaRPr lang="en-US" sz="72" dirty="0"/>
          </a:p>
        </p:txBody>
      </p:sp>
      <p:sp>
        <p:nvSpPr>
          <p:cNvPr id="5" name="Text 3"/>
          <p:cNvSpPr/>
          <p:nvPr/>
        </p:nvSpPr>
        <p:spPr>
          <a:xfrm>
            <a:off x="621792" y="1691640"/>
            <a:ext cx="6126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1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FAIRGAME shows that LLM-agent strategies are not fixed; the same game can produce different outcomes under different experimental conditions.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685800" y="2743200"/>
            <a:ext cx="2514600" cy="1097280"/>
          </a:xfrm>
          <a:prstGeom prst="rect">
            <a:avLst/>
          </a:prstGeom>
          <a:solidFill>
            <a:srgbClr val="FBFAF5"/>
          </a:solidFill>
          <a:ln w="8890">
            <a:solidFill>
              <a:srgbClr val="D8D5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907792"/>
            <a:ext cx="2112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3246120"/>
            <a:ext cx="211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choices vary across English, French, Arabic, Vietnamese and Mandarin Chinese.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520440" y="2743200"/>
            <a:ext cx="2514600" cy="1097280"/>
          </a:xfrm>
          <a:prstGeom prst="rect">
            <a:avLst/>
          </a:prstGeom>
          <a:solidFill>
            <a:srgbClr val="FBFAF5"/>
          </a:solidFill>
          <a:ln w="8890">
            <a:solidFill>
              <a:srgbClr val="D8D5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1608" y="2907792"/>
            <a:ext cx="2112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21608" y="3246120"/>
            <a:ext cx="211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Cooperative or selfish traits strongly shift cooperation and defection patterns.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55080" y="2743200"/>
            <a:ext cx="2514600" cy="1097280"/>
          </a:xfrm>
          <a:prstGeom prst="rect">
            <a:avLst/>
          </a:prstGeom>
          <a:solidFill>
            <a:srgbClr val="FBFAF5"/>
          </a:solidFill>
          <a:ln w="8890">
            <a:solidFill>
              <a:srgbClr val="D8D5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2907792"/>
            <a:ext cx="2112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Payoffs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56248" y="3246120"/>
            <a:ext cx="211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Mild, conventional and harsh variants change strategy trajectories over rounds.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89720" y="2743200"/>
            <a:ext cx="2331720" cy="1097280"/>
          </a:xfrm>
          <a:prstGeom prst="rect">
            <a:avLst/>
          </a:prstGeom>
          <a:solidFill>
            <a:srgbClr val="0B0B0B"/>
          </a:solidFill>
          <a:ln w="8890">
            <a:solidFill>
              <a:srgbClr val="0B0B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90888" y="2907792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choice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90888" y="3246120"/>
            <a:ext cx="1929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differ in internal variability, coordination and sensitivity to payoffs.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4088" y="4663440"/>
            <a:ext cx="10835640" cy="0"/>
          </a:xfrm>
          <a:prstGeom prst="line">
            <a:avLst/>
          </a:prstGeom>
          <a:noFill/>
          <a:ln w="8890">
            <a:solidFill>
              <a:srgbClr val="0B0B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5074920"/>
            <a:ext cx="9875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insight: observed LLM behaviour may draw on prior knowledge and prompt interpretation, not only the numeric payoff matrix.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502920" y="63733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078992" y="6455664"/>
            <a:ext cx="2011680" cy="0"/>
          </a:xfrm>
          <a:prstGeom prst="line">
            <a:avLst/>
          </a:prstGeom>
          <a:noFill/>
          <a:ln w="5715">
            <a:solidFill>
              <a:srgbClr val="0B0B0B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632764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FAIRGAME, Buscemi et al., 2026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7F3EA">
              <a:alpha val="0"/>
            </a:srgbClr>
          </a:solidFill>
          <a:ln w="8255">
            <a:solidFill>
              <a:srgbClr val="0B0B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89204"/>
            <a:ext cx="9966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 — and a 5G mapping</a:t>
            </a:r>
            <a:endParaRPr lang="en-US" sz="72" dirty="0"/>
          </a:p>
        </p:txBody>
      </p:sp>
      <p:sp>
        <p:nvSpPr>
          <p:cNvPr id="5" name="Text 3"/>
          <p:cNvSpPr/>
          <p:nvPr/>
        </p:nvSpPr>
        <p:spPr>
          <a:xfrm>
            <a:off x="621792" y="1691640"/>
            <a:ext cx="5852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 theory gives a baseline; FAIRGAME measures how real LLM agents deviate from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2587752"/>
            <a:ext cx="2926080" cy="2697480"/>
          </a:xfrm>
          <a:prstGeom prst="rect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0175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TAKEAWAY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" y="35661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is not only in answers — it can appear in strategic interaction.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160520" y="2606040"/>
            <a:ext cx="3246120" cy="2011680"/>
          </a:xfrm>
          <a:prstGeom prst="rect">
            <a:avLst/>
          </a:prstGeom>
          <a:solidFill>
            <a:srgbClr val="FBFAF5"/>
          </a:solidFill>
          <a:ln w="8890">
            <a:solidFill>
              <a:srgbClr val="D8D5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61688" y="2770632"/>
            <a:ext cx="2843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Prisoner’s Dilemma → 5G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61688" y="3108960"/>
            <a:ext cx="284378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Spectrum sharing, power control and resource competition: each base station benefits individually by acting selfishly, but the network suffers when all 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909560" y="2606040"/>
            <a:ext cx="3246120" cy="2011680"/>
          </a:xfrm>
          <a:prstGeom prst="rect">
            <a:avLst/>
          </a:prstGeom>
          <a:solidFill>
            <a:srgbClr val="FBFAF5"/>
          </a:solidFill>
          <a:ln w="8890">
            <a:solidFill>
              <a:srgbClr val="D8D5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10728" y="2770632"/>
            <a:ext cx="2843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Battle of the Sexes → 5G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10728" y="3108960"/>
            <a:ext cx="284378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 selection, network-slicing coordination and edge-server choice: agents prefer different options but gain most when they coordinate.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206240" y="5166360"/>
            <a:ext cx="6812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5G examples are an application mapping of the games, not a direct experiment reported by the paper.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63733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78992" y="6455664"/>
            <a:ext cx="2011680" cy="0"/>
          </a:xfrm>
          <a:prstGeom prst="line">
            <a:avLst/>
          </a:prstGeom>
          <a:noFill/>
          <a:ln w="5715">
            <a:solidFill>
              <a:srgbClr val="0B0B0B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632764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FAIRGAME, Buscemi et al., 2026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FAST-NUCES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FAIRGAME — Q6 Presentation</dc:title>
  <dc:subject>FAIRGAME — Q6 Presentation</dc:subject>
  <dc:creator>OpenAI</dc:creator>
  <cp:lastModifiedBy>OpenAI</cp:lastModifiedBy>
  <cp:revision>1</cp:revision>
  <dcterms:created xsi:type="dcterms:W3CDTF">2026-10-05T01:39:56Z</dcterms:created>
  <dcterms:modified xsi:type="dcterms:W3CDTF">2026-10-05T01:39:56Z</dcterms:modified>
</cp:coreProperties>
</file>